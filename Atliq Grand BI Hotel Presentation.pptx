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8288000" cy="10287000"/>
  <p:notesSz cx="6858000" cy="9144000"/>
  <p:embeddedFontLst>
    <p:embeddedFont>
      <p:font typeface="Canva Sans" panose="020B0604020202020204" charset="0"/>
      <p:regular r:id="rId8"/>
    </p:embeddedFont>
    <p:embeddedFont>
      <p:font typeface="Canva Sans Bold" panose="020B0604020202020204" charset="0"/>
      <p:regular r:id="rId9"/>
    </p:embeddedFont>
    <p:embeddedFont>
      <p:font typeface="Noto Serif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8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785727" y="3086100"/>
            <a:ext cx="6716546" cy="4114800"/>
            <a:chOff x="0" y="0"/>
            <a:chExt cx="1768967" cy="10837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68967" cy="1083733"/>
            </a:xfrm>
            <a:custGeom>
              <a:avLst/>
              <a:gdLst/>
              <a:ahLst/>
              <a:cxnLst/>
              <a:rect l="l" t="t" r="r" b="b"/>
              <a:pathLst>
                <a:path w="1768967" h="1083733">
                  <a:moveTo>
                    <a:pt x="0" y="0"/>
                  </a:moveTo>
                  <a:lnTo>
                    <a:pt x="1768967" y="0"/>
                  </a:lnTo>
                  <a:lnTo>
                    <a:pt x="1768967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FFF4E8"/>
            </a:solidFill>
            <a:ln w="38100" cap="sq">
              <a:solidFill>
                <a:srgbClr val="FFF4E8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68967" cy="1121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502273" y="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670927" y="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374863" y="3086100"/>
            <a:ext cx="1220322" cy="1305782"/>
          </a:xfrm>
          <a:custGeom>
            <a:avLst/>
            <a:gdLst/>
            <a:ahLst/>
            <a:cxnLst/>
            <a:rect l="l" t="t" r="r" b="b"/>
            <a:pathLst>
              <a:path w="1220322" h="1305782">
                <a:moveTo>
                  <a:pt x="0" y="0"/>
                </a:moveTo>
                <a:lnTo>
                  <a:pt x="1220322" y="0"/>
                </a:lnTo>
                <a:lnTo>
                  <a:pt x="1220322" y="1305782"/>
                </a:lnTo>
                <a:lnTo>
                  <a:pt x="0" y="13057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72" r="-467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422048" y="3962783"/>
            <a:ext cx="15125953" cy="209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195"/>
              </a:lnSpc>
              <a:spcBef>
                <a:spcPct val="0"/>
              </a:spcBef>
            </a:pPr>
            <a:r>
              <a:rPr lang="en-US" sz="12282" b="1" dirty="0" err="1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Atliq</a:t>
            </a:r>
            <a:r>
              <a:rPr lang="en-US" sz="12282" b="1" dirty="0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 Grand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8115300" cy="8229600"/>
            <a:chOff x="0" y="0"/>
            <a:chExt cx="2137363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7363" cy="2167467"/>
            </a:xfrm>
            <a:custGeom>
              <a:avLst/>
              <a:gdLst/>
              <a:ahLst/>
              <a:cxnLst/>
              <a:rect l="l" t="t" r="r" b="b"/>
              <a:pathLst>
                <a:path w="2137363" h="2167467">
                  <a:moveTo>
                    <a:pt x="0" y="0"/>
                  </a:moveTo>
                  <a:lnTo>
                    <a:pt x="2137363" y="0"/>
                  </a:lnTo>
                  <a:lnTo>
                    <a:pt x="2137363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4E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37363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425553" y="1028700"/>
            <a:ext cx="7833747" cy="8229600"/>
          </a:xfrm>
          <a:custGeom>
            <a:avLst/>
            <a:gdLst/>
            <a:ahLst/>
            <a:cxnLst/>
            <a:rect l="l" t="t" r="r" b="b"/>
            <a:pathLst>
              <a:path w="7833747" h="8229600">
                <a:moveTo>
                  <a:pt x="0" y="0"/>
                </a:moveTo>
                <a:lnTo>
                  <a:pt x="7833747" y="0"/>
                </a:lnTo>
                <a:lnTo>
                  <a:pt x="78337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380" r="-4338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11388" y="2141622"/>
            <a:ext cx="5820399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About 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11388" y="4193086"/>
            <a:ext cx="7338386" cy="1414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3532" lvl="1" indent="-171766" algn="l">
              <a:lnSpc>
                <a:spcPts val="2227"/>
              </a:lnSpc>
              <a:buFont typeface="Arial"/>
              <a:buChar char="•"/>
            </a:pPr>
            <a:r>
              <a:rPr lang="en-US" sz="15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AtliQ Grands owns multiple five-star hotels across India</a:t>
            </a:r>
          </a:p>
          <a:p>
            <a:pPr marL="343532" lvl="1" indent="-171766" algn="l">
              <a:lnSpc>
                <a:spcPts val="2227"/>
              </a:lnSpc>
              <a:buFont typeface="Arial"/>
              <a:buChar char="•"/>
            </a:pPr>
            <a:r>
              <a:rPr lang="en-US" sz="15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Operating in the hospitality industry for over 20 years</a:t>
            </a:r>
          </a:p>
          <a:p>
            <a:pPr marL="343532" lvl="1" indent="-171766" algn="l">
              <a:lnSpc>
                <a:spcPts val="2227"/>
              </a:lnSpc>
              <a:buFont typeface="Arial"/>
              <a:buChar char="•"/>
            </a:pPr>
            <a:r>
              <a:rPr lang="en-US" sz="15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Presence across four major cities: Bengaluru, Delhi, Mumbai, Hyderabad</a:t>
            </a:r>
          </a:p>
          <a:p>
            <a:pPr marL="343532" lvl="1" indent="-171766" algn="l">
              <a:lnSpc>
                <a:spcPts val="2227"/>
              </a:lnSpc>
              <a:buFont typeface="Arial"/>
              <a:buChar char="•"/>
            </a:pPr>
            <a:r>
              <a:rPr lang="en-US" sz="15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Operates in Luxury and Business hotel categories</a:t>
            </a:r>
          </a:p>
          <a:p>
            <a:pPr algn="l">
              <a:lnSpc>
                <a:spcPts val="2463"/>
              </a:lnSpc>
            </a:pPr>
            <a:endParaRPr lang="en-US" sz="159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77774" y="1028700"/>
            <a:ext cx="7612408" cy="8229600"/>
            <a:chOff x="0" y="0"/>
            <a:chExt cx="2004914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04914" cy="2167467"/>
            </a:xfrm>
            <a:custGeom>
              <a:avLst/>
              <a:gdLst/>
              <a:ahLst/>
              <a:cxnLst/>
              <a:rect l="l" t="t" r="r" b="b"/>
              <a:pathLst>
                <a:path w="2004914" h="2167467">
                  <a:moveTo>
                    <a:pt x="0" y="0"/>
                  </a:moveTo>
                  <a:lnTo>
                    <a:pt x="2004914" y="0"/>
                  </a:lnTo>
                  <a:lnTo>
                    <a:pt x="200491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4E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04914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443214" y="1219200"/>
            <a:ext cx="7081526" cy="235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6"/>
              </a:lnSpc>
            </a:pPr>
            <a:r>
              <a:rPr lang="en-US" sz="9200" b="1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Problem Statement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694" y="1028700"/>
            <a:ext cx="9350715" cy="8229600"/>
            <a:chOff x="0" y="0"/>
            <a:chExt cx="1398017" cy="1230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98017" cy="1230400"/>
            </a:xfrm>
            <a:custGeom>
              <a:avLst/>
              <a:gdLst/>
              <a:ahLst/>
              <a:cxnLst/>
              <a:rect l="l" t="t" r="r" b="b"/>
              <a:pathLst>
                <a:path w="1398017" h="1230400">
                  <a:moveTo>
                    <a:pt x="0" y="0"/>
                  </a:moveTo>
                  <a:lnTo>
                    <a:pt x="1398017" y="0"/>
                  </a:lnTo>
                  <a:lnTo>
                    <a:pt x="1398017" y="1230400"/>
                  </a:lnTo>
                  <a:lnTo>
                    <a:pt x="0" y="1230400"/>
                  </a:lnTo>
                  <a:close/>
                </a:path>
              </a:pathLst>
            </a:custGeom>
            <a:blipFill>
              <a:blip r:embed="rId2"/>
              <a:stretch>
                <a:fillRect l="-16128" r="-16128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220816" y="3941780"/>
            <a:ext cx="7038484" cy="4069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2071" lvl="1" indent="-231035" algn="l">
              <a:lnSpc>
                <a:spcPts val="2996"/>
              </a:lnSpc>
              <a:buFont typeface="Arial"/>
              <a:buChar char="•"/>
            </a:pPr>
            <a:r>
              <a:rPr lang="en-US" sz="21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Declining revenue in luxury and business hotel segments</a:t>
            </a:r>
          </a:p>
          <a:p>
            <a:pPr marL="462071" lvl="1" indent="-231035" algn="l">
              <a:lnSpc>
                <a:spcPts val="2996"/>
              </a:lnSpc>
              <a:buFont typeface="Arial"/>
              <a:buChar char="•"/>
            </a:pPr>
            <a:r>
              <a:rPr lang="en-US" sz="21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Loss of market share due to aggressive competitor strategies</a:t>
            </a:r>
          </a:p>
          <a:p>
            <a:pPr marL="462071" lvl="1" indent="-231035" algn="l">
              <a:lnSpc>
                <a:spcPts val="2996"/>
              </a:lnSpc>
              <a:buFont typeface="Arial"/>
              <a:buChar char="•"/>
            </a:pPr>
            <a:r>
              <a:rPr lang="en-US" sz="21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Inconsistent occupancy across cities and properties</a:t>
            </a:r>
          </a:p>
          <a:p>
            <a:pPr marL="462071" lvl="1" indent="-231035" algn="l">
              <a:lnSpc>
                <a:spcPts val="2996"/>
              </a:lnSpc>
              <a:buFont typeface="Arial"/>
              <a:buChar char="•"/>
            </a:pPr>
            <a:r>
              <a:rPr lang="en-US" sz="21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Ineffective pricing and revenue management decisions</a:t>
            </a:r>
          </a:p>
          <a:p>
            <a:pPr marL="462071" lvl="1" indent="-231035" algn="l">
              <a:lnSpc>
                <a:spcPts val="2996"/>
              </a:lnSpc>
              <a:buFont typeface="Arial"/>
              <a:buChar char="•"/>
            </a:pPr>
            <a:r>
              <a:rPr lang="en-US" sz="21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Lack of in-house data analytics capability</a:t>
            </a:r>
          </a:p>
          <a:p>
            <a:pPr marL="462071" lvl="1" indent="-231035" algn="l">
              <a:lnSpc>
                <a:spcPts val="2996"/>
              </a:lnSpc>
              <a:buFont typeface="Arial"/>
              <a:buChar char="•"/>
            </a:pPr>
            <a:r>
              <a:rPr lang="en-US" sz="21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Limited visibility into performance-driving factors</a:t>
            </a:r>
          </a:p>
          <a:p>
            <a:pPr algn="l">
              <a:lnSpc>
                <a:spcPts val="2996"/>
              </a:lnSpc>
            </a:pPr>
            <a:endParaRPr lang="en-US" sz="214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3166573"/>
            <a:chOff x="0" y="0"/>
            <a:chExt cx="4274726" cy="833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833995"/>
            </a:xfrm>
            <a:custGeom>
              <a:avLst/>
              <a:gdLst/>
              <a:ahLst/>
              <a:cxnLst/>
              <a:rect l="l" t="t" r="r" b="b"/>
              <a:pathLst>
                <a:path w="4274726" h="833995">
                  <a:moveTo>
                    <a:pt x="0" y="0"/>
                  </a:moveTo>
                  <a:lnTo>
                    <a:pt x="4274726" y="0"/>
                  </a:lnTo>
                  <a:lnTo>
                    <a:pt x="4274726" y="833995"/>
                  </a:lnTo>
                  <a:lnTo>
                    <a:pt x="0" y="833995"/>
                  </a:lnTo>
                  <a:close/>
                </a:path>
              </a:pathLst>
            </a:custGeom>
            <a:solidFill>
              <a:srgbClr val="FFF4E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8720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566692" y="1742989"/>
            <a:ext cx="11154616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880"/>
              </a:lnSpc>
              <a:spcBef>
                <a:spcPct val="0"/>
              </a:spcBef>
            </a:pPr>
            <a:r>
              <a:rPr lang="en-US" sz="9200" b="1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 Data &amp; Tool Used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420518" y="5143500"/>
            <a:ext cx="3754462" cy="375446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4E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18405" y="5143500"/>
            <a:ext cx="3754462" cy="375446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4E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59887" y="5676014"/>
            <a:ext cx="407150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 Source Of Data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966078" y="5143500"/>
            <a:ext cx="3754462" cy="3754462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4E8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261999" y="5706693"/>
            <a:ext cx="407150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 Tool Used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3931321" y="5143500"/>
            <a:ext cx="3754462" cy="37544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4E8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196886" y="6963581"/>
            <a:ext cx="2346914" cy="464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Power Query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91106" y="6352290"/>
            <a:ext cx="2764191" cy="454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Microsoft Excel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28059" y="7561751"/>
            <a:ext cx="1634741" cy="464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Power Bi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90823" y="6352290"/>
            <a:ext cx="1872754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Excel Files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63523" y="5725742"/>
            <a:ext cx="4359573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Analysis Period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008681" y="6556125"/>
            <a:ext cx="1669256" cy="141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May 2022</a:t>
            </a:r>
          </a:p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</a:t>
            </a:r>
          </a:p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July 2022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568122" y="5516522"/>
            <a:ext cx="4480861" cy="986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5"/>
              </a:lnSpc>
            </a:pPr>
            <a:r>
              <a:rPr lang="en-US" sz="2868" b="1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 Business </a:t>
            </a:r>
          </a:p>
          <a:p>
            <a:pPr marL="0" lvl="0" indent="0" algn="ctr">
              <a:lnSpc>
                <a:spcPts val="4015"/>
              </a:lnSpc>
              <a:spcBef>
                <a:spcPct val="0"/>
              </a:spcBef>
            </a:pPr>
            <a:r>
              <a:rPr lang="en-US" sz="2868" b="1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Assumptions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364080" y="6661341"/>
            <a:ext cx="3050500" cy="454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Weekend: Fri–Sat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202525" y="7381203"/>
            <a:ext cx="3342578" cy="454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Weekday: Sun–Thu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3488" y="1028700"/>
            <a:ext cx="17165497" cy="1395391"/>
            <a:chOff x="0" y="0"/>
            <a:chExt cx="4520954" cy="3675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20954" cy="367510"/>
            </a:xfrm>
            <a:custGeom>
              <a:avLst/>
              <a:gdLst/>
              <a:ahLst/>
              <a:cxnLst/>
              <a:rect l="l" t="t" r="r" b="b"/>
              <a:pathLst>
                <a:path w="4520954" h="367510">
                  <a:moveTo>
                    <a:pt x="0" y="0"/>
                  </a:moveTo>
                  <a:lnTo>
                    <a:pt x="4520954" y="0"/>
                  </a:lnTo>
                  <a:lnTo>
                    <a:pt x="4520954" y="367510"/>
                  </a:lnTo>
                  <a:lnTo>
                    <a:pt x="0" y="367510"/>
                  </a:lnTo>
                  <a:close/>
                </a:path>
              </a:pathLst>
            </a:custGeom>
            <a:solidFill>
              <a:srgbClr val="FFF4E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20954" cy="405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53488" y="2989330"/>
            <a:ext cx="17165497" cy="6997359"/>
            <a:chOff x="0" y="0"/>
            <a:chExt cx="34655107" cy="14126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655106" cy="14126840"/>
            </a:xfrm>
            <a:custGeom>
              <a:avLst/>
              <a:gdLst/>
              <a:ahLst/>
              <a:cxnLst/>
              <a:rect l="l" t="t" r="r" b="b"/>
              <a:pathLst>
                <a:path w="34655106" h="14126840">
                  <a:moveTo>
                    <a:pt x="34655106" y="338773"/>
                  </a:moveTo>
                  <a:lnTo>
                    <a:pt x="34655106" y="13788067"/>
                  </a:lnTo>
                  <a:cubicBezTo>
                    <a:pt x="34655106" y="13975238"/>
                    <a:pt x="34395339" y="14126840"/>
                    <a:pt x="34074618" y="14126840"/>
                  </a:cubicBezTo>
                  <a:lnTo>
                    <a:pt x="580488" y="14126840"/>
                  </a:lnTo>
                  <a:cubicBezTo>
                    <a:pt x="259768" y="14126840"/>
                    <a:pt x="0" y="13975238"/>
                    <a:pt x="0" y="13788067"/>
                  </a:cubicBezTo>
                  <a:lnTo>
                    <a:pt x="0" y="338773"/>
                  </a:lnTo>
                  <a:cubicBezTo>
                    <a:pt x="0" y="151601"/>
                    <a:pt x="259768" y="0"/>
                    <a:pt x="580488" y="0"/>
                  </a:cubicBezTo>
                  <a:lnTo>
                    <a:pt x="34074618" y="0"/>
                  </a:lnTo>
                  <a:cubicBezTo>
                    <a:pt x="34395339" y="0"/>
                    <a:pt x="34655106" y="151601"/>
                    <a:pt x="34655106" y="338773"/>
                  </a:cubicBezTo>
                  <a:close/>
                </a:path>
              </a:pathLst>
            </a:custGeom>
            <a:blipFill>
              <a:blip r:embed="rId2"/>
              <a:stretch>
                <a:fillRect t="-18910" b="-18910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53488" y="1235223"/>
            <a:ext cx="17165497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Modeling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6507" y="758225"/>
            <a:ext cx="15974987" cy="8770550"/>
            <a:chOff x="0" y="0"/>
            <a:chExt cx="50399570" cy="276702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399569" cy="27670255"/>
            </a:xfrm>
            <a:custGeom>
              <a:avLst/>
              <a:gdLst/>
              <a:ahLst/>
              <a:cxnLst/>
              <a:rect l="l" t="t" r="r" b="b"/>
              <a:pathLst>
                <a:path w="50399569" h="27670255">
                  <a:moveTo>
                    <a:pt x="50399569" y="663555"/>
                  </a:moveTo>
                  <a:lnTo>
                    <a:pt x="50399569" y="27006702"/>
                  </a:lnTo>
                  <a:cubicBezTo>
                    <a:pt x="50399569" y="27373315"/>
                    <a:pt x="50021787" y="27670255"/>
                    <a:pt x="49555357" y="27670255"/>
                  </a:cubicBezTo>
                  <a:lnTo>
                    <a:pt x="844214" y="27670255"/>
                  </a:lnTo>
                  <a:cubicBezTo>
                    <a:pt x="377786" y="27670255"/>
                    <a:pt x="0" y="27373315"/>
                    <a:pt x="0" y="27006702"/>
                  </a:cubicBezTo>
                  <a:lnTo>
                    <a:pt x="0" y="663555"/>
                  </a:lnTo>
                  <a:cubicBezTo>
                    <a:pt x="0" y="296941"/>
                    <a:pt x="377786" y="0"/>
                    <a:pt x="844214" y="0"/>
                  </a:cubicBezTo>
                  <a:lnTo>
                    <a:pt x="49555357" y="0"/>
                  </a:lnTo>
                  <a:cubicBezTo>
                    <a:pt x="50021787" y="0"/>
                    <a:pt x="50399569" y="296941"/>
                    <a:pt x="50399569" y="663555"/>
                  </a:cubicBezTo>
                  <a:close/>
                </a:path>
              </a:pathLst>
            </a:custGeom>
            <a:blipFill>
              <a:blip r:embed="rId2"/>
              <a:stretch>
                <a:fillRect t="-10604" b="-10604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131</Words>
  <Application>Microsoft Office PowerPoint</Application>
  <PresentationFormat>Custom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Noto Serif Bold</vt:lpstr>
      <vt:lpstr>Arial</vt:lpstr>
      <vt:lpstr>Calibri</vt:lpstr>
      <vt:lpstr>Canva Sans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White Simple Hotel Presentation</dc:title>
  <cp:lastModifiedBy>Naveen jhinjarye</cp:lastModifiedBy>
  <cp:revision>3</cp:revision>
  <dcterms:created xsi:type="dcterms:W3CDTF">2006-08-16T00:00:00Z</dcterms:created>
  <dcterms:modified xsi:type="dcterms:W3CDTF">2026-01-01T07:09:27Z</dcterms:modified>
  <dc:identifier>DAG89q-ptsU</dc:identifier>
</cp:coreProperties>
</file>